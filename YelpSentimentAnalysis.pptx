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Yelp Sentiment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  ·  Chi-Square  ·  Mutual Info  ·  LR  ·  MNB  ·  SVM  ·  Gradient Boosting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3566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ML Application — Multi-class Review Sentiment Classification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663440"/>
            <a:ext cx="2011680" cy="256032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663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3-CLASS  ·  POS / NEU / NEG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393192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50876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61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Yelp reviews into Positive, Neutral, or Negative sentiment using machine learning on real user-generated text.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3192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54864" cy="150876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161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with two columns: review text and 1–5 star rating. Labels derived: ≤2 → NEG, 3 → NEU, 4–5 → POS.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393192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54864" cy="150876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→ TF-IDF bigrams + hand-crafted linguistic features → Feature selection → Train 4 classifiers → Evaluate.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393192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43200"/>
            <a:ext cx="54864" cy="150876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Interface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2004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with Data, Train, Results, and Predict tabs. Supports single review and batch CSV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548640"/>
          </a:xfrm>
          <a:prstGeom prst="rect">
            <a:avLst/>
          </a:prstGeom>
          <a:solidFill>
            <a:srgbClr val="E8C97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149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punctuation/numbers via regex. Prepares raw reviews for vectorisation.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02920" cy="548640"/>
          </a:xfrm>
          <a:prstGeom prst="rect">
            <a:avLst/>
          </a:prstGeom>
          <a:solidFill>
            <a:srgbClr val="E8C97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922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bigrams, max 5,000 features, sublinear TF scaling to reduce frequency bias.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502920" cy="548640"/>
          </a:xfrm>
          <a:prstGeom prst="rect">
            <a:avLst/>
          </a:prstGeom>
          <a:solidFill>
            <a:srgbClr val="E8C97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5603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694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8346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neg/pos score, sentence length, avg word length, punctuation density, negation flag.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502920" cy="548640"/>
          </a:xfrm>
          <a:prstGeom prst="rect">
            <a:avLst/>
          </a:prstGeom>
          <a:solidFill>
            <a:srgbClr val="E8C97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3375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TF-IDF matrix stacked with dense hand-crafted features; MaxAbsScaler applied to linguistic block.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502920" cy="548640"/>
          </a:xfrm>
          <a:prstGeom prst="rect">
            <a:avLst/>
          </a:prstGeom>
          <a:solidFill>
            <a:srgbClr val="E8C97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1148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1239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and Mutual Information scores computed on TF-IDF block to rank top-15 discriminative terms.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Labelling Strategy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554480"/>
            <a:ext cx="3657600" cy="548640"/>
          </a:xfrm>
          <a:prstGeom prst="rect">
            <a:avLst/>
          </a:prstGeom>
          <a:solidFill>
            <a:srgbClr val="0F1117"/>
          </a:solidFill>
          <a:ln w="12700">
            <a:solidFill>
              <a:srgbClr val="4CAF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★★★★★  (4–5)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1600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1828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— stratified split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2240280"/>
            <a:ext cx="3657600" cy="548640"/>
          </a:xfrm>
          <a:prstGeom prst="rect">
            <a:avLst/>
          </a:prstGeom>
          <a:solidFill>
            <a:srgbClr val="0F1117"/>
          </a:solidFill>
          <a:ln w="12700">
            <a:solidFill>
              <a:srgbClr val="D4B8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★★★☆☆  (3)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2860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2514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— stratified split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3657600" cy="548640"/>
          </a:xfrm>
          <a:prstGeom prst="rect">
            <a:avLst/>
          </a:prstGeom>
          <a:solidFill>
            <a:srgbClr val="0F1117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★★☆☆☆  (1–2)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2971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200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— stratified split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3657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Negation-aware lexicon scoring: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not/never/barely flip polarity weight × 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Intensifiers (very, extremely…) scale score × 2.5.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&amp; Feature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5120640" cy="8686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86868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149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C=1.0 · class_weight=balanced · max_iter=1000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baseline, interpretable coefficients for top features per class.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5120640" cy="8686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54864" cy="868680"/>
          </a:xfrm>
          <a:prstGeom prst="rect">
            <a:avLst/>
          </a:prstGeom>
          <a:solidFill>
            <a:srgbClr val="5BA0D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208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Multinomial Naive Bayes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alpha=0.5 · MinMaxScaled input [0,1]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probabilistic classifier; requires non-negative features via MinMax scaling.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5120640" cy="8686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54864" cy="868680"/>
          </a:xfrm>
          <a:prstGeom prst="rect">
            <a:avLst/>
          </a:prstGeom>
          <a:solidFill>
            <a:srgbClr val="4CAF8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266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SVM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C=0.5 · class_weight=balanced · max_iter=2000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4930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high-dimensional sparse TF-IDF spaces; margin-based classification.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5120640" cy="8686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54864" cy="86868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325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 Gradient Boosting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max_iter=100 · max_depth=3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4988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ensemble on dense array; handles non-linear feature interactions.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960120"/>
            <a:ext cx="2926080" cy="4023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978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Vector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1417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  (5,000d)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16642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Unigrams + bigrams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18745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Sublinear TF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20848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Clean text input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38658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Lexicon  (2d)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633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Neg score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28437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Pos score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1455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Linguistic  (4d)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33924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Sentence length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60273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Avg word length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38130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Punct density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40233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Negation flag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370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MaxAbsScaler on linguistic block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for MNB input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F1 Score — All Models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347472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943899" cy="347472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23859" y="15819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0.7842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029200" cy="347472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59152"/>
            <a:ext cx="3671819" cy="347472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84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1779" y="23865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5029200" cy="347472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63824"/>
            <a:ext cx="4001232" cy="347472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95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81192" y="319125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0.7956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49872" y="319125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BEST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5029200" cy="347472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68496"/>
            <a:ext cx="3829233" cy="347472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941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9193" y="39959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0.7614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960120"/>
            <a:ext cx="2926080" cy="4023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97880" y="1051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SVM — Per-Class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1417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12280" y="1417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69480" y="1417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26680" y="14173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52160" y="1691640"/>
            <a:ext cx="2834640" cy="457200"/>
          </a:xfrm>
          <a:prstGeom prst="rect">
            <a:avLst/>
          </a:prstGeom>
          <a:solidFill>
            <a:srgbClr val="0F1117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1691640"/>
            <a:ext cx="45720" cy="457200"/>
          </a:xfrm>
          <a:prstGeom prst="rect">
            <a:avLst/>
          </a:prstGeom>
          <a:solidFill>
            <a:srgbClr val="4CAF87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18013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A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12280" y="18013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69480" y="18013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26680" y="18013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52160" y="2258568"/>
            <a:ext cx="2834640" cy="457200"/>
          </a:xfrm>
          <a:prstGeom prst="rect">
            <a:avLst/>
          </a:prstGeom>
          <a:solidFill>
            <a:srgbClr val="0F1117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2258568"/>
            <a:ext cx="45720" cy="457200"/>
          </a:xfrm>
          <a:prstGeom prst="rect">
            <a:avLst/>
          </a:prstGeom>
          <a:solidFill>
            <a:srgbClr val="D4B84A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23682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12280" y="236829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236829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0.741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236829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0.747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52160" y="2825496"/>
            <a:ext cx="2834640" cy="457200"/>
          </a:xfrm>
          <a:prstGeom prst="rect">
            <a:avLst/>
          </a:prstGeom>
          <a:solidFill>
            <a:srgbClr val="0F1117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160" y="2825496"/>
            <a:ext cx="45720" cy="4572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29352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12280" y="2935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9480" y="2935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26680" y="29352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52160" y="3392424"/>
            <a:ext cx="2834640" cy="457200"/>
          </a:xfrm>
          <a:prstGeom prst="rect">
            <a:avLst/>
          </a:prstGeom>
          <a:solidFill>
            <a:srgbClr val="0F1117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2160" y="3392424"/>
            <a:ext cx="45720" cy="45720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35021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12280" y="35021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69480" y="35021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26680" y="35021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 &amp; Interpretability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164592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Chi-Square — Top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 food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17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worst ever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673352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733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again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673352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733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highly recommend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929384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293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amazing service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929384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9293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terrible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185416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1854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love this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68880" y="2185416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1854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good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2441448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41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disgusting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68880" y="2441448"/>
            <a:ext cx="173736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441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1005840"/>
            <a:ext cx="4206240" cy="164592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Information — Top Features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1417320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417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place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75120" y="1417320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417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 money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1673352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673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fresh ingredients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75120" y="1673352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1673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rude staff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1929384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9293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would recommend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75120" y="1929384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19293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overpriced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2185416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21854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 back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75120" y="2185416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1854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service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17720" y="2441448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2441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friendly staff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75120" y="2441448"/>
            <a:ext cx="1828800" cy="201168"/>
          </a:xfrm>
          <a:prstGeom prst="rect">
            <a:avLst/>
          </a:prstGeom>
          <a:solidFill>
            <a:srgbClr val="0F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2441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disappointing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2834640"/>
            <a:ext cx="8321040" cy="19659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48640" y="29260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Lexicon Feature Design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3291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Words (20)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35478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great, excellent, love, best, perfect, amazing, helpful, fresh, delicious, recommend, fantastic, wonderful, clean, fast…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06040" y="3291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Words (20)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06040" y="35478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worst, bad, terrible, horrible, waste, disappointed, broken, poor, hate, awful, crap, junk, rude, disgusting, overpriced…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54880" y="3291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Negation (12 tokens)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35478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no, never, didnt, wasnt, cant, wont, doesnt, neither, barely — flips polarity, score × 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03720" y="3291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Intensifiers (10)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03720" y="35478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very, extremely, really, so, totally, highly, absolutely, incredibly, super — scales score × 2.5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2011680" cy="38404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5029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Tab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yelp.csv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11226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column stats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62432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bar chart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13639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audit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005840"/>
            <a:ext cx="2011680" cy="38404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05840"/>
            <a:ext cx="2011680" cy="5029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126187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Tab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16002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columns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211226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train 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8608" y="262432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feedback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78608" y="313639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Macro F1 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005840"/>
            <a:ext cx="2011680" cy="38404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05840"/>
            <a:ext cx="2011680" cy="5029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126187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Tab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27448" y="16002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all F1s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27448" y="211226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 pie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262432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breakdown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27448" y="313639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heatmap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364845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(coef)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27448" y="416052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/ MI pills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1005840"/>
            <a:ext cx="2011680" cy="384048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1005840"/>
            <a:ext cx="2011680" cy="50292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126187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Tab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16002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Single-review input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76288" y="211226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bar chart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76288" y="262432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Word-highlight 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76288" y="313639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prediction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76288" y="364845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predictions.csv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594360"/>
          </a:xfrm>
          <a:prstGeom prst="rect">
            <a:avLst/>
          </a:prstGeom>
          <a:solidFill>
            <a:srgbClr val="4CAF8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1097280"/>
            <a:ext cx="77724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097280"/>
            <a:ext cx="45720" cy="594360"/>
          </a:xfrm>
          <a:prstGeom prst="rect">
            <a:avLst/>
          </a:prstGeom>
          <a:solidFill>
            <a:srgbClr val="4CAF87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1143000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SVM is the strongest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3898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Macro F1 ≈ 0.796 on 3-class Yelp sentiment, outperforming LR, MNB, and Gradient Boosting. Sparse high-dimensional TF-IDF favours margin-based classifiers.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457200" cy="59436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6537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1865376"/>
            <a:ext cx="77724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865376"/>
            <a:ext cx="45720" cy="59436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1911096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Bigrams capture key phrases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1579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TF-IDF features like 'never again', 'highly recommend', 'worst ever' are top Chi-Square and Mutual Information discriminators across classes.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457200" cy="594360"/>
          </a:xfrm>
          <a:prstGeom prst="rect">
            <a:avLst/>
          </a:prstGeom>
          <a:solidFill>
            <a:srgbClr val="D4B8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334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2633472"/>
            <a:ext cx="77724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2633472"/>
            <a:ext cx="45720" cy="594360"/>
          </a:xfrm>
          <a:prstGeom prst="rect">
            <a:avLst/>
          </a:prstGeom>
          <a:solidFill>
            <a:srgbClr val="D4B8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2679192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Negation-aware lexicon adds signal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29260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features — negation flipping, intensifier scaling, punctuation density — complement sparse TF-IDF and improve boundary cases.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457200" cy="5943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40156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3401568"/>
            <a:ext cx="77724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3401568"/>
            <a:ext cx="45720" cy="5943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3447288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Neutral class is hardest to classify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369417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3-star neutral reviews exhibit mixed sentiment language, resulting in lower Precision and Recall (~0.75) vs Positive/Negative (~0.82).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9664"/>
            <a:ext cx="457200" cy="594360"/>
          </a:xfrm>
          <a:prstGeom prst="rect">
            <a:avLst/>
          </a:prstGeom>
          <a:solidFill>
            <a:srgbClr val="5BA0D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1696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0120" y="4169664"/>
            <a:ext cx="777240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4169664"/>
            <a:ext cx="45720" cy="594360"/>
          </a:xfrm>
          <a:prstGeom prst="rect">
            <a:avLst/>
          </a:prstGeom>
          <a:solidFill>
            <a:srgbClr val="5BA0D0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992" y="4215384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C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Streamlit deployment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8992" y="44622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from raw CSV upload to batch-prediction download in a polished dark-themed UI with interactive Plotly visualisations.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Yelp Sentiment Analysis</dc:title>
  <dc:subject>PptxGenJS Presentation</dc:subject>
  <dc:creator>PptxGenJS</dc:creator>
  <cp:lastModifiedBy>PptxGenJS</cp:lastModifiedBy>
  <cp:revision>1</cp:revision>
  <dcterms:created xsi:type="dcterms:W3CDTF">2026-05-16T07:40:03Z</dcterms:created>
  <dcterms:modified xsi:type="dcterms:W3CDTF">2026-05-16T07:40:03Z</dcterms:modified>
</cp:coreProperties>
</file>