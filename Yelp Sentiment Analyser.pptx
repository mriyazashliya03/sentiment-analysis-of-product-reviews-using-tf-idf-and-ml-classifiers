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5460B1-43A6-4CB9-BEE2-485DA0D797D5}">
  <a:tblStyle styleId="{055460B1-43A6-4CB9-BEE2-485DA0D797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0" y="864990"/>
            <a:ext cx="116014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Yelp </a:t>
            </a:r>
            <a:r>
              <a:rPr lang="en-US" sz="60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Sentiment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Analyzer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990725" y="31242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An end-to-end </a:t>
            </a:r>
            <a:r>
              <a:rPr lang="en-US" sz="1500" b="0" i="0" u="none" strike="noStrike" cap="none" dirty="0" err="1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Streamlit</a:t>
            </a:r>
            <a:r>
              <a:rPr lang="en-US" sz="1500" b="0" i="0" u="none" strike="noStrike" cap="none" dirty="0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web application for real-time and batch sentiment analysis of customer reviews using ensemble machine learning techniques.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4EBF28-AB7E-E364-BB64-FC26931DA287}"/>
              </a:ext>
            </a:extLst>
          </p:cNvPr>
          <p:cNvSpPr txBox="1"/>
          <p:nvPr/>
        </p:nvSpPr>
        <p:spPr>
          <a:xfrm>
            <a:off x="9153525" y="528403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401216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2640508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Understanding the architecture and objectives of the Yelp Review Sentiment Classification system.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033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898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6381750" y="278040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Modern Web Interface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62750" y="325665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Reactive UI: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Instant feedback during review analysis and model training.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62750" y="405675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Multi-tab Navigation: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Seamlessly move between data exploration, model training, and predictions.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62750" y="485685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Scalable Backend: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Optimized Python integration for heavy NLP feature extraction.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32566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40567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8568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Powered by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Streamlit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11049000" cy="4402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31405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Mapping: 1-2 Stars → Negative | 3 Stars → Neutral | 4-5 Stars → Positive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Dataset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0832"/>
            <a:ext cx="34924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70832"/>
            <a:ext cx="349254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70832"/>
            <a:ext cx="34924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962025" y="348525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TF-IDF Bigrams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962025" y="3999607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Capturing local context and word pairs to understand phrases like "not good" or "very tasty".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4740175" y="348525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Linguistic Signals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740175" y="3999607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Handcrafted features including punctuation density, caps usage, and sentence length statistics.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18475" y="348525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Lexicon Scoring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518475" y="3999607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Integrating domain-specific sentiment lexicons to calculate overall polarity scores.</a:t>
            </a:r>
            <a:endParaRPr/>
          </a:p>
        </p:txBody>
      </p:sp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8993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78993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78993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Engineering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5238750" cy="44021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962025" y="25415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Handcrafted Features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343025" y="3017787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Negation Detection: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Tracking "no", "not", "never" to flip sentiment.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343025" y="3817887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Average Word Length: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Correlating vocabulary complexity with sentiment.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343025" y="4617987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Punctuation Density: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Using '!' and '?' as signals for emotional intensity.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30177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62025" y="38178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62025" y="461798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Beyond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Bag-of-Words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3232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23232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23232"/>
            <a:ext cx="34924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962025" y="363765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Logistic Regression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62025" y="4152007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Baseline probabilistic model providing high interpretability and efficiency.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740175" y="363765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Linear SVM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740175" y="415200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Robust high-dimensional classification optimized for sparse text vectors.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18475" y="363765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Gradient Boosting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518475" y="4152007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Advanced ensemble technique to capture complex non-linear relationships.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423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9423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94233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Classifier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Comparison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8457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381750" y="251370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Ranked Importance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81750" y="302805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We reduce noise and dimensionality using statistical ranking methods to select the top 2000 features.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27982"/>
            <a:ext cx="5219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6762750" y="382815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Chi-Square (\(\chi^2\)):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Evaluating feature independence.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762750" y="462825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Mutual Information: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Measuring information gain per token.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762750" y="542835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Improved F1-score and faster inference.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381750" y="38281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381750" y="46282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542835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Optimization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&amp; Ranking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571500" y="2656582"/>
            <a:ext cx="11049000" cy="28575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1"/>
          <p:cNvGraphicFramePr/>
          <p:nvPr>
            <p:extLst>
              <p:ext uri="{D42A27DB-BD31-4B8C-83A1-F6EECF244321}">
                <p14:modId xmlns:p14="http://schemas.microsoft.com/office/powerpoint/2010/main" val="142758142"/>
              </p:ext>
            </p:extLst>
          </p:nvPr>
        </p:nvGraphicFramePr>
        <p:xfrm>
          <a:off x="571500" y="2656582"/>
          <a:ext cx="11049025" cy="2857500"/>
        </p:xfrm>
        <a:graphic>
          <a:graphicData uri="http://schemas.openxmlformats.org/drawingml/2006/table">
            <a:tbl>
              <a:tblPr firstRow="1" bandRow="1">
                <a:noFill/>
                <a:tableStyleId>{055460B1-43A6-4CB9-BEE2-485DA0D797D5}</a:tableStyleId>
              </a:tblPr>
              <a:tblGrid>
                <a:gridCol w="199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Tab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📂 Data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CSV Preview &amp; Quality Check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Star distribution bar chart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🚀 Train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Training (80/20 Split)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Accuracy &amp; Training metrics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📊 Results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Comparison &amp; Evaluation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Confusion Matrices &amp; Top Features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🔮 Predict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Live &amp; Batch Inference</a:t>
                      </a:r>
                      <a:endParaRPr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Sentiment tags &amp; Highlighted text</a:t>
                      </a:r>
                      <a:endParaRPr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" name="Google Shape;194;p21"/>
          <p:cNvSpPr/>
          <p:nvPr/>
        </p:nvSpPr>
        <p:spPr>
          <a:xfrm>
            <a:off x="571500" y="3213794"/>
            <a:ext cx="19917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563266" y="3213794"/>
            <a:ext cx="42049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768256" y="3213794"/>
            <a:ext cx="48522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3785294"/>
            <a:ext cx="19917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563266" y="3785294"/>
            <a:ext cx="42049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768256" y="3785294"/>
            <a:ext cx="48522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356794"/>
            <a:ext cx="19917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563266" y="4356794"/>
            <a:ext cx="42049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768256" y="4356794"/>
            <a:ext cx="48522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4928294"/>
            <a:ext cx="19917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563266" y="4928294"/>
            <a:ext cx="42049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768256" y="4928294"/>
            <a:ext cx="48522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5499794"/>
            <a:ext cx="199176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563266" y="5499794"/>
            <a:ext cx="420498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768256" y="5499794"/>
            <a:ext cx="48522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Application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3280469"/>
            <a:ext cx="55245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89%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4613969"/>
            <a:ext cx="5524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AVG. MACRO F1-SCORE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096000" y="2913757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Peak Efficiency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096000" y="3428107"/>
            <a:ext cx="5524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Linear SVM and Logistic Regression emerged as top performers, handling negation and bigrams with high precision across all three classes (Pos, Neu, Neg).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477000" y="453300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Recall: High for extreme ratings (1 &amp; 5)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477000" y="502830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Precision: Excellent for negative filtering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096000" y="453300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096000" y="502830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5912"/>
            <a:ext cx="4953000" cy="157341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11413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Live </a:t>
            </a:r>
            <a:r>
              <a:rPr lang="en-US" sz="36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Prediction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22653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The interactive prediction engine provides real-time feedback with word-level highlighting.</a:t>
            </a:r>
            <a:endParaRPr/>
          </a:p>
        </p:txBody>
      </p:sp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1685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962025" y="3798837"/>
            <a:ext cx="4171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"The food was , but the service was ."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511507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Positive words in green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52500" y="561037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Negative words in red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52500" y="610567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Negation cues in bold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95525" y="3798837"/>
            <a:ext cx="361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2725" y="3798837"/>
            <a:ext cx="552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4042618"/>
            <a:ext cx="9334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5115073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5610373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6105673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-214391" y="3019425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Widescreen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JetBrains Mono</vt:lpstr>
      <vt:lpstr>Calibri</vt:lpstr>
      <vt:lpstr>Urbanist Medium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Anamika Ponnu</cp:lastModifiedBy>
  <cp:revision>1</cp:revision>
  <dcterms:modified xsi:type="dcterms:W3CDTF">2026-05-15T10:17:09Z</dcterms:modified>
</cp:coreProperties>
</file>